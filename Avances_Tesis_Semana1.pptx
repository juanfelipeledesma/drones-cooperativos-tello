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861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DE TESIS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Cooperativo de Drones basado en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Dinámicos y Redes Ad-Hoc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3931920"/>
            <a:ext cx="91440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— Caracterización del Tello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validación del lazo de control individual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53035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Felipe Ledesma Velásquez
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Asesor: Camilo Andrés Escobar Velásquez, PhD.
</a:t>
            </a: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los Andes — Departamento de Ingeniería de Sistemas y Computación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y contexto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CUBRIRÁ ESTA REUNIÓN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669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escalón individual
</a:t>
            </a:r>
            <a:r>
              <a:rPr lang="en-US" sz="17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comando → acción
</a:t>
            </a:r>
            <a:r>
              <a:rPr lang="en-US" sz="17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del hover natural
</a:t>
            </a:r>
            <a:r>
              <a:rPr lang="en-US" sz="17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Lazo cerrado ArUco (un dron)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75120" y="1371600"/>
            <a:ext cx="502920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690372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0372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OE1: Validar el modelo dinámico del Tello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03720" y="25146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1.1, 1.2 y 1.3 caracterizan 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experimentalmente la dinámica del Tello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(latencia, overshoot, drift, modelo de 2° orden) y aportan los parámetros para la simulación en MATLAB/Simulink y Gazebo.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0372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OE2: Control cooperativo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03720" y="46634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2.1 valida el 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lazo cerrado de posición individual con ArUco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prerrequisito para todas las pruebas cooperativas (2.2, 2.3, 2.4) que requieren dos drones.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de Tesis - Semana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1735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E4D75C2-0F1B-42D2-E6FE-F47567D8BA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666" b="13333"/>
          <a:stretch/>
        </p:blipFill>
        <p:spPr>
          <a:xfrm>
            <a:off x="864489" y="3657600"/>
            <a:ext cx="3179191" cy="27129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experimental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1737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Ryze/DJI Tello (Boost Combo)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2148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720p, FOV 82.6° H × 52° 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2560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2.4 GHz drone↔Mac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2971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ArUco DICT_4X4_50, 48 cm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3383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cols × 2 filas en pared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3794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0 (esquina inf-izq)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1371600"/>
            <a:ext cx="502920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Text 16"/>
          <p:cNvSpPr/>
          <p:nvPr/>
        </p:nvSpPr>
        <p:spPr>
          <a:xfrm>
            <a:off x="690372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19659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+ djitellopy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(SDK del Tello)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4.13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(ArUco + 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SOLVEPNP_IPPE_SQUARE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PIDController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 para lazo cerrado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temporal de outliers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(&gt;50 cm)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657600"/>
            <a:ext cx="5029200" cy="2286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1" name="Text 19"/>
          <p:cNvSpPr/>
          <p:nvPr/>
        </p:nvSpPr>
        <p:spPr>
          <a:xfrm>
            <a:off x="690372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COORDENADAS MUNDO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42062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 </a:t>
            </a: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 lo largo de la pared
</a:t>
            </a: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→  </a:t>
            </a: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(piso → techo)
</a:t>
            </a: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→  </a:t>
            </a: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a la pared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(positivo = alejándose)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de Tesis - Semana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1735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escalón individual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95360" y="1371600"/>
            <a:ext cx="3200400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Text 3"/>
          <p:cNvSpPr/>
          <p:nvPr/>
        </p:nvSpPr>
        <p:spPr>
          <a:xfrm>
            <a:off x="877824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0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de 30 cm intercalados (right → up → left → down)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0" y="27432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Re-centrado por PID
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ArUco entre repeticiones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Comando no bloqueante
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 captar rise time real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Telemetría SDK + pose
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ArUco a 33 Hz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0" y="5760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reps × 4 ejes = 12 step responses</a:t>
            </a:r>
            <a:endParaRPr lang="en-US" sz="1200" dirty="0"/>
          </a:p>
        </p:txBody>
      </p:sp>
      <p:pic>
        <p:nvPicPr>
          <p:cNvPr id="9" name="Image 0" descr="/Users/juanfelipeledesmavelasquez/Downloads/drone_tests 2/presentation_assets/1_1_step_respons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7863840" cy="5029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de Tesis - Semana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1735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1.1 —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Caracterización estadística + modelo dinámico</a:t>
            </a:r>
            <a:endParaRPr lang="en-US" sz="2800" dirty="0"/>
          </a:p>
        </p:txBody>
      </p:sp>
      <p:pic>
        <p:nvPicPr>
          <p:cNvPr id="4" name="Image 0" descr="/Users/juanfelipeledesmavelasquez/Downloads/drone_tests 2/presentation_assets/1_1_bias_st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371600"/>
            <a:ext cx="5943600" cy="3657600"/>
          </a:xfrm>
          <a:prstGeom prst="rect">
            <a:avLst/>
          </a:prstGeom>
        </p:spPr>
      </p:pic>
      <p:pic>
        <p:nvPicPr>
          <p:cNvPr id="5" name="Image 1" descr="/Users/juanfelipeledesmavelasquez/Downloads/drone_tests 2/presentation_assets/1_1_model_fi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371600"/>
            <a:ext cx="566928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5212080"/>
            <a:ext cx="114300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Text 3"/>
          <p:cNvSpPr/>
          <p:nvPr/>
        </p:nvSpPr>
        <p:spPr>
          <a:xfrm>
            <a:off x="548640" y="5349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 MEDIO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8640" y="5623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9-19 cm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48640" y="6126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el eje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206240" y="5349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DESPLAZAMIENTO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206240" y="5623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&lt;10%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206240" y="6126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comando 30 cm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863840" y="5349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2° ORDEN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863840" y="5623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ζ ≈ 1.0,  ωn ≈ 1.9 rad/s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863840" y="6126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2.8 cm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de Tesis - Semana 1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81735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Latencia comando → acción</a:t>
            </a:r>
            <a:endParaRPr lang="en-US" sz="2800" dirty="0"/>
          </a:p>
        </p:txBody>
      </p:sp>
      <p:pic>
        <p:nvPicPr>
          <p:cNvPr id="4" name="Image 0" descr="/Users/juanfelipeledesmavelasquez/Downloads/drone_tests 2/presentation_assets/1_2_latenc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463040"/>
            <a:ext cx="71323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371600"/>
            <a:ext cx="4114800" cy="3520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3"/>
          <p:cNvSpPr/>
          <p:nvPr/>
        </p:nvSpPr>
        <p:spPr>
          <a:xfrm>
            <a:off x="786384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CLAVE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63840" y="18288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1029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1042416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863840" y="2880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del tiempo de respuesta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9264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679 ms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6384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9264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2045 ms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6384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± std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92640" y="4114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1203 ± 423 ms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8638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/ P95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92640" y="4480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1854 / 1963 ms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80960" y="5074920"/>
            <a:ext cx="4114800" cy="10972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Text 16"/>
          <p:cNvSpPr/>
          <p:nvPr/>
        </p:nvSpPr>
        <p:spPr>
          <a:xfrm>
            <a:off x="7818120" y="5166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kern="0" spc="300" dirty="0">
                <a:solidFill>
                  <a:srgbClr val="12183B"/>
                </a:solidFill>
              </a:rPr>
              <a:t>HALLAZGO
</a:t>
            </a:r>
            <a:r>
              <a:rPr lang="en-US" sz="1100" dirty="0">
                <a:solidFill>
                  <a:srgbClr val="FFFFFF"/>
                </a:solidFill>
              </a:rPr>
              <a:t>Comandos discretos (move_*) no son aptos para lazo cerrado. </a:t>
            </a:r>
            <a:r>
              <a:rPr lang="en-US" sz="1100" b="1" dirty="0">
                <a:solidFill>
                  <a:srgbClr val="FFFFFF"/>
                </a:solidFill>
              </a:rPr>
              <a:t>Justificación de usar rc_control para OE2.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de Tesis - Semana 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1735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Caracterización del hover natural (sin control)</a:t>
            </a:r>
            <a:endParaRPr lang="en-US" sz="2800" dirty="0"/>
          </a:p>
        </p:txBody>
      </p:sp>
      <p:pic>
        <p:nvPicPr>
          <p:cNvPr id="4" name="Image 0" descr="/Users/juanfelipeledesmavelasquez/Downloads/drone_tests 2/presentation_assets/1_3_hov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371600"/>
            <a:ext cx="822960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69680" y="1371600"/>
            <a:ext cx="3017520" cy="3611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3"/>
          <p:cNvSpPr/>
          <p:nvPr/>
        </p:nvSpPr>
        <p:spPr>
          <a:xfrm>
            <a:off x="900684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60 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00684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42416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cm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00684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42416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 cm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00684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σ_z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42416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 cm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006840" y="3383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máx XY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424160" y="3383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cm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006840" y="3886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altura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424160" y="3886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 cm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00684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σ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42416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cm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869680" y="5166360"/>
            <a:ext cx="3017520" cy="10972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0" name="Text 17"/>
          <p:cNvSpPr/>
          <p:nvPr/>
        </p:nvSpPr>
        <p:spPr>
          <a:xfrm>
            <a:off x="9006840" y="52578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kern="0" spc="300" dirty="0">
                <a:solidFill>
                  <a:srgbClr val="12183B"/>
                </a:solidFill>
              </a:rPr>
              <a:t>JUSTIFICA OE2
</a:t>
            </a:r>
            <a:r>
              <a:rPr lang="en-US" sz="1100" dirty="0">
                <a:solidFill>
                  <a:srgbClr val="FFFFFF"/>
                </a:solidFill>
              </a:rPr>
              <a:t>Drift de 45 cm/min sin control supera la tolerancia para vuelo cooperativo (&lt;10 cm).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de Tesis - Semana 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1735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2.1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Lazo cerrado ArUco — un dron</a:t>
            </a:r>
            <a:endParaRPr lang="en-US" sz="2800" dirty="0"/>
          </a:p>
        </p:txBody>
      </p:sp>
      <p:pic>
        <p:nvPicPr>
          <p:cNvPr id="4" name="Image 0" descr="/Users/juanfelipeledesmavelasquez/Downloads/drone_tests 2/presentation_assets/2_1_closed_lo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371600"/>
            <a:ext cx="768096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371600"/>
            <a:ext cx="3611880" cy="3337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3"/>
          <p:cNvSpPr/>
          <p:nvPr/>
        </p:nvSpPr>
        <p:spPr>
          <a:xfrm>
            <a:off x="836676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ESTACIONARIO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366760" y="1828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10698480" y="2331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366760" y="2788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3D promedio (vs. &lt;15 cm objetivo del plan)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66760" y="3520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err_x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50976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-0.34 ± 5.41 cm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366760" y="3886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err_y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50976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-0.53 ± 6.64 cm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66760" y="4251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err_z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50976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-0.09 ± 4.67 cm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29600" y="4846320"/>
            <a:ext cx="3611880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7" name="Text 14"/>
          <p:cNvSpPr/>
          <p:nvPr/>
        </p:nvSpPr>
        <p:spPr>
          <a:xfrm>
            <a:off x="8366760" y="4937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13.6 Hz   </a:t>
            </a:r>
            <a:r>
              <a:rPr lang="en-US" sz="1000" dirty="0">
                <a:solidFill>
                  <a:srgbClr val="FFFFFF"/>
                </a:solidFill>
              </a:rPr>
              <a:t>frecuencia efectiva del lazo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229600" y="5577840"/>
            <a:ext cx="3611880" cy="6858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Text 16"/>
          <p:cNvSpPr/>
          <p:nvPr/>
        </p:nvSpPr>
        <p:spPr>
          <a:xfrm>
            <a:off x="8366760" y="565099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kern="0" spc="300" dirty="0">
                <a:solidFill>
                  <a:srgbClr val="12183B"/>
                </a:solidFill>
              </a:rPr>
              <a:t>ÉXITO
</a:t>
            </a:r>
            <a:r>
              <a:rPr lang="en-US" sz="1300" b="1" dirty="0">
                <a:solidFill>
                  <a:srgbClr val="FFFFFF"/>
                </a:solidFill>
              </a:rPr>
              <a:t>Bias &lt; 1 cm en los 3 ejes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de Tesis - Semana 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1735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2.1 — PERTURBACIÓN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Robustez ante perturbaciones físicas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Empuje manual con cartón rígido (~15-20 cm) durante el lazo activo. Marcador 'p' en el CSV registra cada empujón. Métrica clave: tiempo de recuperación al retorno a banda &lt;8 cm.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2064" y="1965960"/>
            <a:ext cx="3611880" cy="2606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512064" y="1965960"/>
            <a:ext cx="3611880" cy="91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713232" y="219456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PERTURBACIONES DETECTADAS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60604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13232" y="374904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" y="411480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&gt; 25 cm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88536" y="1965960"/>
            <a:ext cx="3611880" cy="2606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Shape 10"/>
          <p:cNvSpPr/>
          <p:nvPr/>
        </p:nvSpPr>
        <p:spPr>
          <a:xfrm>
            <a:off x="4288536" y="1965960"/>
            <a:ext cx="3611880" cy="91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1"/>
          <p:cNvSpPr/>
          <p:nvPr/>
        </p:nvSpPr>
        <p:spPr>
          <a:xfrm>
            <a:off x="4489704" y="219456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MÁXIMO REGISTRADO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9704" y="260604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4489704" y="374904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89704" y="411480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instantánea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65008" y="1965960"/>
            <a:ext cx="3611880" cy="2606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Shape 16"/>
          <p:cNvSpPr/>
          <p:nvPr/>
        </p:nvSpPr>
        <p:spPr>
          <a:xfrm>
            <a:off x="8065008" y="1965960"/>
            <a:ext cx="3611880" cy="91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Text 17"/>
          <p:cNvSpPr/>
          <p:nvPr/>
        </p:nvSpPr>
        <p:spPr>
          <a:xfrm>
            <a:off x="8266176" y="219456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MEDIA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66176" y="260604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8266176" y="374904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66176" y="4114800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 banda &lt; 8 cm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11155680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4" name="Text 22"/>
          <p:cNvSpPr/>
          <p:nvPr/>
        </p:nvSpPr>
        <p:spPr>
          <a:xfrm>
            <a:off x="77724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5349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controlador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 perturbaciones laterales y verticales de 30-46 cm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tiempo de recuperación medio de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s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Esto demuestra robustez del lazo cerrado ante perturbaciones comparables a las que pueden ocurrir en vuelo cooperativo (downwash entre drones, ráfagas).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de Tesis - Semana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1735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0972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pruebas completadas, 4/4 con métricas reportables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51206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Shape 4"/>
          <p:cNvSpPr/>
          <p:nvPr/>
        </p:nvSpPr>
        <p:spPr>
          <a:xfrm>
            <a:off x="1097280" y="1828800"/>
            <a:ext cx="5120640" cy="91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1325880" y="2011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6596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Response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4688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reps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325880" y="3291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ωn=1.9 rad/s, ζ≈1.0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3657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dinámico ajustado, RMSE 2.8 cm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51206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120640" cy="91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Text 12"/>
          <p:cNvSpPr/>
          <p:nvPr/>
        </p:nvSpPr>
        <p:spPr>
          <a:xfrm>
            <a:off x="6629400" y="2011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6948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Latencia move_*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24688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~1.0 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629400" y="3291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respuesta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3657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obliga a usar rc_control en cooperación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297680"/>
            <a:ext cx="51206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0" name="Shape 18"/>
          <p:cNvSpPr/>
          <p:nvPr/>
        </p:nvSpPr>
        <p:spPr>
          <a:xfrm>
            <a:off x="1097280" y="4297680"/>
            <a:ext cx="5120640" cy="91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1" name="Text 19"/>
          <p:cNvSpPr/>
          <p:nvPr/>
        </p:nvSpPr>
        <p:spPr>
          <a:xfrm>
            <a:off x="132588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65960" y="4480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Hover sin control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9377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≈ 4-5 cm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1325880" y="5760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45 cm en 60 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6126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 necesidad de lazo cerrado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4297680"/>
            <a:ext cx="51206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7" name="Shape 25"/>
          <p:cNvSpPr/>
          <p:nvPr/>
        </p:nvSpPr>
        <p:spPr>
          <a:xfrm>
            <a:off x="6400800" y="4297680"/>
            <a:ext cx="5120640" cy="91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8" name="Text 26"/>
          <p:cNvSpPr/>
          <p:nvPr/>
        </p:nvSpPr>
        <p:spPr>
          <a:xfrm>
            <a:off x="6629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69480" y="4480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Lazo Cerrado ArUco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29400" y="49377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cm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6629400" y="5760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estacionario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29400" y="6126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3 s ante 30-45 cm de perturbación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de Tesis - Semana 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1735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clave de la semana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155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Shape 3"/>
          <p:cNvSpPr/>
          <p:nvPr/>
        </p:nvSpPr>
        <p:spPr>
          <a:xfrm>
            <a:off x="777240" y="1527048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4173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rc_control ≫ move_* para vuelo cooperativo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178308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latencia de comandos discretos (mediana ~1 s) los hace inviables para lazo cerrado. El control vía rc_control logró 13.6 Hz efectivos con error &lt;1 cm. Esta decisión arquitectónica afectará todas las pruebas restantes (2.2, 2.3, 2.4).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11155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Shape 8"/>
          <p:cNvSpPr/>
          <p:nvPr/>
        </p:nvSpPr>
        <p:spPr>
          <a:xfrm>
            <a:off x="777240" y="2871216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" name="Text 9"/>
          <p:cNvSpPr/>
          <p:nvPr/>
        </p:nvSpPr>
        <p:spPr>
          <a:xfrm>
            <a:off x="777240" y="291693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276148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Multi-marker fusion: planeada para v2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3127248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implementación inicial saturaba el loop (&gt;50 ms/frame), causando deriva por escasez de comandos rc. Reverté a single-marker (closest-to-center) + IPPE_SQUARE + filtro de outliers. La fusión queda como mejora futura, optimizando el cálculo de solvePnP.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68496"/>
            <a:ext cx="11155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5" name="Shape 13"/>
          <p:cNvSpPr/>
          <p:nvPr/>
        </p:nvSpPr>
        <p:spPr>
          <a:xfrm>
            <a:off x="777240" y="4215384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Text 14"/>
          <p:cNvSpPr/>
          <p:nvPr/>
        </p:nvSpPr>
        <p:spPr>
          <a:xfrm>
            <a:off x="777240" y="426110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10565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IMU Tello: pausa de 4 s post-takeoff es crítica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471416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esa pausa, el drone reporta 'No valid imu' en el primer move_X y queda en estado inestable (deriva incontrolable). Documentado y aplicado en todos los scripts de vuelo.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312664"/>
            <a:ext cx="11155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0" name="Shape 18"/>
          <p:cNvSpPr/>
          <p:nvPr/>
        </p:nvSpPr>
        <p:spPr>
          <a:xfrm>
            <a:off x="777240" y="5559552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1" name="Text 19"/>
          <p:cNvSpPr/>
          <p:nvPr/>
        </p:nvSpPr>
        <p:spPr>
          <a:xfrm>
            <a:off x="777240" y="560527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544982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ArUco a 48 cm + IPPE_SQUARE = ruido manejable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5815584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grandes (48 cm vs. 11 cm iniciales) reducen σ de pose ~5x. cv2.SOLVEPNP_IPPE_SQUARE elimina la ambigüedad de pose planar. La calibración formal de cámara queda pendiente (ensayo dio peor resultado por capturas sesgadas).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de Tesis - Semana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1735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para las siguientes 2-3 semanas, priorizado por dependencias.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 (sin 2° dron)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09728" cy="1097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+ 3.2: Benchmarking Ethernet + protocolo de mensajes (Mac↔Ubuntu en localhost)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32304"/>
            <a:ext cx="109728" cy="1097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Text 8"/>
          <p:cNvSpPr/>
          <p:nvPr/>
        </p:nvSpPr>
        <p:spPr>
          <a:xfrm>
            <a:off x="914400" y="2340864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4.1: Setup Gazebo con parámetros calibrados del Tello (ωn, ζ del modelo 2°)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61488"/>
            <a:ext cx="109728" cy="1097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Text 10"/>
          <p:cNvSpPr/>
          <p:nvPr/>
        </p:nvSpPr>
        <p:spPr>
          <a:xfrm>
            <a:off x="914400" y="267004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formal de cámara con chessboard (capturas mejor distribuidas)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63824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Text 12"/>
          <p:cNvSpPr/>
          <p:nvPr/>
        </p:nvSpPr>
        <p:spPr>
          <a:xfrm>
            <a:off x="548640" y="31638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2° DRON DISPONIBLE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9728" cy="10972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Text 14"/>
          <p:cNvSpPr/>
          <p:nvPr/>
        </p:nvSpPr>
        <p:spPr>
          <a:xfrm>
            <a:off x="914400" y="3621024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2.2: Formación estática líder-seguidor (1er vuelo cooperativo)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41648"/>
            <a:ext cx="109728" cy="10972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Text 16"/>
          <p:cNvSpPr/>
          <p:nvPr/>
        </p:nvSpPr>
        <p:spPr>
          <a:xfrm>
            <a:off x="914400" y="39502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2.3: Formación dinámica con líder en trayectoria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370832"/>
            <a:ext cx="109728" cy="10972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0" name="Text 18"/>
          <p:cNvSpPr/>
          <p:nvPr/>
        </p:nvSpPr>
        <p:spPr>
          <a:xfrm>
            <a:off x="914400" y="4279392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2.4: Consenso distribuido de posición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73168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Text 20"/>
          <p:cNvSpPr/>
          <p:nvPr/>
        </p:nvSpPr>
        <p:spPr>
          <a:xfrm>
            <a:off x="548640" y="4773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FINAL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5321808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4" name="Text 22"/>
          <p:cNvSpPr/>
          <p:nvPr/>
        </p:nvSpPr>
        <p:spPr>
          <a:xfrm>
            <a:off x="914400" y="523036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+ 3.4: Degradación de red (tc netem) + tolerancia a desconexión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65099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6" name="Text 24"/>
          <p:cNvSpPr/>
          <p:nvPr/>
        </p:nvSpPr>
        <p:spPr>
          <a:xfrm>
            <a:off x="914400" y="5559552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+ 5.2: Misión cooperativa completa, 5 reps con video cenital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980176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8" name="Text 26"/>
          <p:cNvSpPr/>
          <p:nvPr/>
        </p:nvSpPr>
        <p:spPr>
          <a:xfrm>
            <a:off x="914400" y="5888736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sim-to-real con datos de Gazebo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de Tesis - Semana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17352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Preguntas, comentarios y discusión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1106424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4"/>
          <p:cNvSpPr/>
          <p:nvPr/>
        </p:nvSpPr>
        <p:spPr>
          <a:xfrm>
            <a:off x="777240" y="4251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27660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16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2766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completadas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14700" y="4617720"/>
            <a:ext cx="27660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14700" y="5440680"/>
            <a:ext cx="2766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plan ejecutado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4617720"/>
            <a:ext cx="27660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OE1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080760" y="5440680"/>
            <a:ext cx="2766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completo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46820" y="4617720"/>
            <a:ext cx="27660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846820" y="5440680"/>
            <a:ext cx="2766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completo (2.1 ✓)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juanfelipeledesma · Departamento de Ingeniería de Sistemas y Computación · Uniandes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1305</Words>
  <Application>Microsoft Macintosh PowerPoint</Application>
  <PresentationFormat>Panorámica</PresentationFormat>
  <Paragraphs>209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Avances de Tesis - Semana 1</dc:title>
  <dc:subject>PptxGenJS Presentation</dc:subject>
  <dc:creator>Juan Felipe Ledesma Velásquez</dc:creator>
  <cp:lastModifiedBy>Juan Felipe Ledesma Velasquez</cp:lastModifiedBy>
  <cp:revision>3</cp:revision>
  <dcterms:created xsi:type="dcterms:W3CDTF">2026-05-04T02:44:04Z</dcterms:created>
  <dcterms:modified xsi:type="dcterms:W3CDTF">2026-05-04T14:41:50Z</dcterms:modified>
</cp:coreProperties>
</file>